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gabati Sharma" userId="c78c1a36bbad1b56" providerId="LiveId" clId="{88C146E3-1106-426C-AF66-47807B744E81}"/>
    <pc:docChg chg="undo custSel addSld delSld modSld modMainMaster">
      <pc:chgData name="Bhagabati Sharma" userId="c78c1a36bbad1b56" providerId="LiveId" clId="{88C146E3-1106-426C-AF66-47807B744E81}" dt="2026-05-18T15:15:48.331" v="381" actId="478"/>
      <pc:docMkLst>
        <pc:docMk/>
      </pc:docMkLst>
      <pc:sldChg chg="delSp modSp mod modTransition">
        <pc:chgData name="Bhagabati Sharma" userId="c78c1a36bbad1b56" providerId="LiveId" clId="{88C146E3-1106-426C-AF66-47807B744E81}" dt="2026-05-18T15:10:54.391" v="375"/>
        <pc:sldMkLst>
          <pc:docMk/>
          <pc:sldMk cId="1864411841" sldId="256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1864411841" sldId="256"/>
            <ac:spMk id="2" creationId="{E43D1464-A809-EB7D-A84E-71E8AAAAB309}"/>
          </ac:spMkLst>
        </pc:spChg>
        <pc:spChg chg="del mod">
          <ac:chgData name="Bhagabati Sharma" userId="c78c1a36bbad1b56" providerId="LiveId" clId="{88C146E3-1106-426C-AF66-47807B744E81}" dt="2026-05-18T15:03:58.677" v="328" actId="478"/>
          <ac:spMkLst>
            <pc:docMk/>
            <pc:sldMk cId="1864411841" sldId="256"/>
            <ac:spMk id="3" creationId="{83E1B6AF-284C-8C05-EA60-F72D15D1EC6F}"/>
          </ac:spMkLst>
        </pc:spChg>
      </pc:sldChg>
      <pc:sldChg chg="modSp mod modTransition">
        <pc:chgData name="Bhagabati Sharma" userId="c78c1a36bbad1b56" providerId="LiveId" clId="{88C146E3-1106-426C-AF66-47807B744E81}" dt="2026-05-18T15:10:54.391" v="375"/>
        <pc:sldMkLst>
          <pc:docMk/>
          <pc:sldMk cId="3191393598" sldId="257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3191393598" sldId="257"/>
            <ac:spMk id="2" creationId="{CAD68F93-C09F-4630-2866-7499A4985909}"/>
          </ac:spMkLst>
        </pc:spChg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3191393598" sldId="257"/>
            <ac:spMk id="3" creationId="{25228C6B-943E-F342-C2FE-E26BCFA79022}"/>
          </ac:spMkLst>
        </pc:spChg>
      </pc:sldChg>
      <pc:sldChg chg="modSp mod modTransition">
        <pc:chgData name="Bhagabati Sharma" userId="c78c1a36bbad1b56" providerId="LiveId" clId="{88C146E3-1106-426C-AF66-47807B744E81}" dt="2026-05-18T15:10:54.391" v="375"/>
        <pc:sldMkLst>
          <pc:docMk/>
          <pc:sldMk cId="492457765" sldId="258"/>
        </pc:sldMkLst>
        <pc:spChg chg="mod">
          <ac:chgData name="Bhagabati Sharma" userId="c78c1a36bbad1b56" providerId="LiveId" clId="{88C146E3-1106-426C-AF66-47807B744E81}" dt="2026-05-18T14:30:33.131" v="34" actId="1076"/>
          <ac:spMkLst>
            <pc:docMk/>
            <pc:sldMk cId="492457765" sldId="258"/>
            <ac:spMk id="4" creationId="{489ED316-06CC-E2CA-B3F2-DAF870A86A59}"/>
          </ac:spMkLst>
        </pc:spChg>
        <pc:graphicFrameChg chg="mod">
          <ac:chgData name="Bhagabati Sharma" userId="c78c1a36bbad1b56" providerId="LiveId" clId="{88C146E3-1106-426C-AF66-47807B744E81}" dt="2026-05-18T14:30:16.149" v="31" actId="14100"/>
          <ac:graphicFrameMkLst>
            <pc:docMk/>
            <pc:sldMk cId="492457765" sldId="258"/>
            <ac:graphicFrameMk id="5" creationId="{3FB3DE77-069D-4E68-9F49-024CA9F5B403}"/>
          </ac:graphicFrameMkLst>
        </pc:graphicFrameChg>
      </pc:sldChg>
      <pc:sldChg chg="addSp delSp modSp new mod modTransition">
        <pc:chgData name="Bhagabati Sharma" userId="c78c1a36bbad1b56" providerId="LiveId" clId="{88C146E3-1106-426C-AF66-47807B744E81}" dt="2026-05-18T15:15:48.331" v="381" actId="478"/>
        <pc:sldMkLst>
          <pc:docMk/>
          <pc:sldMk cId="3945699930" sldId="259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3945699930" sldId="259"/>
            <ac:spMk id="2" creationId="{93C74188-C0A8-3936-F8D8-19514F212619}"/>
          </ac:spMkLst>
        </pc:spChg>
        <pc:spChg chg="del mod">
          <ac:chgData name="Bhagabati Sharma" userId="c78c1a36bbad1b56" providerId="LiveId" clId="{88C146E3-1106-426C-AF66-47807B744E81}" dt="2026-05-18T14:23:42.401" v="4"/>
          <ac:spMkLst>
            <pc:docMk/>
            <pc:sldMk cId="3945699930" sldId="259"/>
            <ac:spMk id="3" creationId="{D6CA220A-2E94-FB7E-E50D-4A0EDA2D60CC}"/>
          </ac:spMkLst>
        </pc:spChg>
        <pc:spChg chg="mod">
          <ac:chgData name="Bhagabati Sharma" userId="c78c1a36bbad1b56" providerId="LiveId" clId="{88C146E3-1106-426C-AF66-47807B744E81}" dt="2026-05-18T14:49:59.902" v="191" actId="1076"/>
          <ac:spMkLst>
            <pc:docMk/>
            <pc:sldMk cId="3945699930" sldId="259"/>
            <ac:spMk id="4" creationId="{10004916-9074-D119-9E79-2765B10EADC5}"/>
          </ac:spMkLst>
        </pc:spChg>
        <pc:spChg chg="add del mod">
          <ac:chgData name="Bhagabati Sharma" userId="c78c1a36bbad1b56" providerId="LiveId" clId="{88C146E3-1106-426C-AF66-47807B744E81}" dt="2026-05-18T15:15:48.331" v="381" actId="478"/>
          <ac:spMkLst>
            <pc:docMk/>
            <pc:sldMk cId="3945699930" sldId="259"/>
            <ac:spMk id="7" creationId="{59C5279A-27A2-FA0C-E846-3B5686850F8F}"/>
          </ac:spMkLst>
        </pc:spChg>
        <pc:graphicFrameChg chg="add mod">
          <ac:chgData name="Bhagabati Sharma" userId="c78c1a36bbad1b56" providerId="LiveId" clId="{88C146E3-1106-426C-AF66-47807B744E81}" dt="2026-05-18T15:15:39.397" v="380" actId="14100"/>
          <ac:graphicFrameMkLst>
            <pc:docMk/>
            <pc:sldMk cId="3945699930" sldId="259"/>
            <ac:graphicFrameMk id="3" creationId="{3815E53A-867F-490D-AFE5-587AAF9AC4FF}"/>
          </ac:graphicFrameMkLst>
        </pc:graphicFrameChg>
        <pc:graphicFrameChg chg="add del mod">
          <ac:chgData name="Bhagabati Sharma" userId="c78c1a36bbad1b56" providerId="LiveId" clId="{88C146E3-1106-426C-AF66-47807B744E81}" dt="2026-05-18T15:15:26.024" v="378" actId="478"/>
          <ac:graphicFrameMkLst>
            <pc:docMk/>
            <pc:sldMk cId="3945699930" sldId="259"/>
            <ac:graphicFrameMk id="5" creationId="{3815E53A-867F-490D-AFE5-587AAF9AC4FF}"/>
          </ac:graphicFrameMkLst>
        </pc:graphicFrameChg>
      </pc:sldChg>
      <pc:sldChg chg="addSp delSp modSp new mod modTransition">
        <pc:chgData name="Bhagabati Sharma" userId="c78c1a36bbad1b56" providerId="LiveId" clId="{88C146E3-1106-426C-AF66-47807B744E81}" dt="2026-05-18T15:10:54.391" v="375"/>
        <pc:sldMkLst>
          <pc:docMk/>
          <pc:sldMk cId="878166491" sldId="260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878166491" sldId="260"/>
            <ac:spMk id="2" creationId="{77868D14-8E37-482C-D9EC-73F4C7962364}"/>
          </ac:spMkLst>
        </pc:spChg>
        <pc:spChg chg="del mod">
          <ac:chgData name="Bhagabati Sharma" userId="c78c1a36bbad1b56" providerId="LiveId" clId="{88C146E3-1106-426C-AF66-47807B744E81}" dt="2026-05-18T14:31:53.643" v="46"/>
          <ac:spMkLst>
            <pc:docMk/>
            <pc:sldMk cId="878166491" sldId="260"/>
            <ac:spMk id="3" creationId="{1721A02A-132D-472C-532D-14121D430A92}"/>
          </ac:spMkLst>
        </pc:spChg>
        <pc:spChg chg="mod">
          <ac:chgData name="Bhagabati Sharma" userId="c78c1a36bbad1b56" providerId="LiveId" clId="{88C146E3-1106-426C-AF66-47807B744E81}" dt="2026-05-18T14:37:11.196" v="68" actId="12"/>
          <ac:spMkLst>
            <pc:docMk/>
            <pc:sldMk cId="878166491" sldId="260"/>
            <ac:spMk id="4" creationId="{1424AB9E-6AFB-AC26-3D8A-0E58B414B693}"/>
          </ac:spMkLst>
        </pc:spChg>
        <pc:graphicFrameChg chg="add mod">
          <ac:chgData name="Bhagabati Sharma" userId="c78c1a36bbad1b56" providerId="LiveId" clId="{88C146E3-1106-426C-AF66-47807B744E81}" dt="2026-05-18T14:36:12.785" v="58" actId="14100"/>
          <ac:graphicFrameMkLst>
            <pc:docMk/>
            <pc:sldMk cId="878166491" sldId="260"/>
            <ac:graphicFrameMk id="5" creationId="{DBAA7E3C-5CC3-4EA6-940A-001E5D6DEF64}"/>
          </ac:graphicFrameMkLst>
        </pc:graphicFrameChg>
      </pc:sldChg>
      <pc:sldChg chg="addSp delSp modSp new mod modTransition">
        <pc:chgData name="Bhagabati Sharma" userId="c78c1a36bbad1b56" providerId="LiveId" clId="{88C146E3-1106-426C-AF66-47807B744E81}" dt="2026-05-18T15:10:54.391" v="375"/>
        <pc:sldMkLst>
          <pc:docMk/>
          <pc:sldMk cId="2942546261" sldId="261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2942546261" sldId="261"/>
            <ac:spMk id="2" creationId="{0F3D3BFE-B74F-869F-126D-52F157937B4E}"/>
          </ac:spMkLst>
        </pc:spChg>
        <pc:spChg chg="del">
          <ac:chgData name="Bhagabati Sharma" userId="c78c1a36bbad1b56" providerId="LiveId" clId="{88C146E3-1106-426C-AF66-47807B744E81}" dt="2026-05-18T14:37:42.628" v="72"/>
          <ac:spMkLst>
            <pc:docMk/>
            <pc:sldMk cId="2942546261" sldId="261"/>
            <ac:spMk id="3" creationId="{90000C31-9C3E-E434-B5FF-A1A9B75B0B48}"/>
          </ac:spMkLst>
        </pc:spChg>
        <pc:spChg chg="mod">
          <ac:chgData name="Bhagabati Sharma" userId="c78c1a36bbad1b56" providerId="LiveId" clId="{88C146E3-1106-426C-AF66-47807B744E81}" dt="2026-05-18T14:42:27.388" v="100" actId="1076"/>
          <ac:spMkLst>
            <pc:docMk/>
            <pc:sldMk cId="2942546261" sldId="261"/>
            <ac:spMk id="4" creationId="{C578A07D-FAD3-7976-549D-CA625992379D}"/>
          </ac:spMkLst>
        </pc:spChg>
        <pc:graphicFrameChg chg="add mod">
          <ac:chgData name="Bhagabati Sharma" userId="c78c1a36bbad1b56" providerId="LiveId" clId="{88C146E3-1106-426C-AF66-47807B744E81}" dt="2026-05-18T14:37:52.966" v="75" actId="1076"/>
          <ac:graphicFrameMkLst>
            <pc:docMk/>
            <pc:sldMk cId="2942546261" sldId="261"/>
            <ac:graphicFrameMk id="5" creationId="{074BF433-D76F-460F-86BB-F347D0C00045}"/>
          </ac:graphicFrameMkLst>
        </pc:graphicFrameChg>
      </pc:sldChg>
      <pc:sldChg chg="addSp delSp modSp new mod modTransition">
        <pc:chgData name="Bhagabati Sharma" userId="c78c1a36bbad1b56" providerId="LiveId" clId="{88C146E3-1106-426C-AF66-47807B744E81}" dt="2026-05-18T15:10:54.391" v="375"/>
        <pc:sldMkLst>
          <pc:docMk/>
          <pc:sldMk cId="2162789373" sldId="262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2162789373" sldId="262"/>
            <ac:spMk id="2" creationId="{03DCF89A-DCFF-09FB-051E-4CB2C136A654}"/>
          </ac:spMkLst>
        </pc:spChg>
        <pc:spChg chg="del mod">
          <ac:chgData name="Bhagabati Sharma" userId="c78c1a36bbad1b56" providerId="LiveId" clId="{88C146E3-1106-426C-AF66-47807B744E81}" dt="2026-05-18T14:52:58.082" v="231"/>
          <ac:spMkLst>
            <pc:docMk/>
            <pc:sldMk cId="2162789373" sldId="262"/>
            <ac:spMk id="3" creationId="{328DA7CA-AE23-E577-089C-4C6D52DEB8FE}"/>
          </ac:spMkLst>
        </pc:spChg>
        <pc:spChg chg="mod">
          <ac:chgData name="Bhagabati Sharma" userId="c78c1a36bbad1b56" providerId="LiveId" clId="{88C146E3-1106-426C-AF66-47807B744E81}" dt="2026-05-18T14:53:11.543" v="234" actId="1076"/>
          <ac:spMkLst>
            <pc:docMk/>
            <pc:sldMk cId="2162789373" sldId="262"/>
            <ac:spMk id="4" creationId="{1664B3DF-FDD4-8688-CDD0-D42A7C962B88}"/>
          </ac:spMkLst>
        </pc:spChg>
        <pc:graphicFrameChg chg="add mod">
          <ac:chgData name="Bhagabati Sharma" userId="c78c1a36bbad1b56" providerId="LiveId" clId="{88C146E3-1106-426C-AF66-47807B744E81}" dt="2026-05-18T14:53:14.233" v="235" actId="14100"/>
          <ac:graphicFrameMkLst>
            <pc:docMk/>
            <pc:sldMk cId="2162789373" sldId="262"/>
            <ac:graphicFrameMk id="5" creationId="{C81291B7-B33C-4505-911B-53FFCF597819}"/>
          </ac:graphicFrameMkLst>
        </pc:graphicFrameChg>
      </pc:sldChg>
      <pc:sldChg chg="new del">
        <pc:chgData name="Bhagabati Sharma" userId="c78c1a36bbad1b56" providerId="LiveId" clId="{88C146E3-1106-426C-AF66-47807B744E81}" dt="2026-05-18T14:54:27.942" v="238" actId="2696"/>
        <pc:sldMkLst>
          <pc:docMk/>
          <pc:sldMk cId="733699207" sldId="263"/>
        </pc:sldMkLst>
      </pc:sldChg>
      <pc:sldChg chg="addSp modSp new mod modTransition">
        <pc:chgData name="Bhagabati Sharma" userId="c78c1a36bbad1b56" providerId="LiveId" clId="{88C146E3-1106-426C-AF66-47807B744E81}" dt="2026-05-18T15:10:54.391" v="375"/>
        <pc:sldMkLst>
          <pc:docMk/>
          <pc:sldMk cId="3933057664" sldId="263"/>
        </pc:sldMkLst>
        <pc:spChg chg="mod">
          <ac:chgData name="Bhagabati Sharma" userId="c78c1a36bbad1b56" providerId="LiveId" clId="{88C146E3-1106-426C-AF66-47807B744E81}" dt="2026-05-18T15:03:09.119" v="321"/>
          <ac:spMkLst>
            <pc:docMk/>
            <pc:sldMk cId="3933057664" sldId="263"/>
            <ac:spMk id="2" creationId="{57B605D2-4E08-20D6-C32B-157CFE1555B6}"/>
          </ac:spMkLst>
        </pc:spChg>
        <pc:spChg chg="add mod">
          <ac:chgData name="Bhagabati Sharma" userId="c78c1a36bbad1b56" providerId="LiveId" clId="{88C146E3-1106-426C-AF66-47807B744E81}" dt="2026-05-18T15:00:23.500" v="293" actId="14100"/>
          <ac:spMkLst>
            <pc:docMk/>
            <pc:sldMk cId="3933057664" sldId="263"/>
            <ac:spMk id="4" creationId="{756F8906-E5D9-4541-D573-19BB99AB9E2B}"/>
          </ac:spMkLst>
        </pc:spChg>
      </pc:sldChg>
      <pc:sldMasterChg chg="modTransition modSldLayout">
        <pc:chgData name="Bhagabati Sharma" userId="c78c1a36bbad1b56" providerId="LiveId" clId="{88C146E3-1106-426C-AF66-47807B744E81}" dt="2026-05-18T15:10:54.391" v="375"/>
        <pc:sldMasterMkLst>
          <pc:docMk/>
          <pc:sldMasterMk cId="2474147209" sldId="2147483660"/>
        </pc:sldMasterMkLst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1270364849" sldId="2147483661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1721596071" sldId="2147483662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1613926364" sldId="2147483663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4211792600" sldId="2147483664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3302573328" sldId="2147483665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871139706" sldId="2147483666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3087490180" sldId="2147483667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2543850748" sldId="2147483668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2235776357" sldId="2147483669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826894723" sldId="2147483670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4066913067" sldId="2147483671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1102226438" sldId="2147483672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3154740579" sldId="2147483673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1585132950" sldId="2147483674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3525794112" sldId="2147483675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2034150290" sldId="2147483676"/>
          </pc:sldLayoutMkLst>
        </pc:sldLayoutChg>
        <pc:sldLayoutChg chg="modTransition">
          <pc:chgData name="Bhagabati Sharma" userId="c78c1a36bbad1b56" providerId="LiveId" clId="{88C146E3-1106-426C-AF66-47807B744E81}" dt="2026-05-18T15:10:54.391" v="375"/>
          <pc:sldLayoutMkLst>
            <pc:docMk/>
            <pc:sldMasterMk cId="2474147209" sldId="2147483660"/>
            <pc:sldLayoutMk cId="1319751627" sldId="214748367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c1a36bbad1b56/Desktop/Final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c1a36bbad1b56/Desktop/Final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c1a36bbad1b56/Desktop/Final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c1a36bbad1b56/Desktop/Final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c1a36bbad1b56/Desktop/Final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[FinalDashboard.xlsx]Pivot!PivotTable4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Sales</a:t>
            </a:r>
            <a:r>
              <a:rPr lang="en-IN" baseline="0"/>
              <a:t> By Temperature</a:t>
            </a:r>
            <a:endParaRPr lang="en-IN"/>
          </a:p>
        </c:rich>
      </c:tx>
      <c:layout>
        <c:manualLayout>
          <c:xMode val="edge"/>
          <c:yMode val="edge"/>
          <c:x val="0.31608054807102598"/>
          <c:y val="8.503401360544218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3479915887707021E-2"/>
          <c:y val="5.1210428305400374E-2"/>
          <c:w val="0.89283313923507901"/>
          <c:h val="0.816810493385296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Pivot!$J$7</c:f>
              <c:strCache>
                <c:ptCount val="1"/>
                <c:pt idx="0">
                  <c:v> Casual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Pivot!$I$8:$I$31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0.10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0.20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0.30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0.40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Pivot!$J$8:$J$31</c:f>
              <c:numCache>
                <c:formatCode>General</c:formatCode>
                <c:ptCount val="23"/>
                <c:pt idx="0">
                  <c:v>10</c:v>
                </c:pt>
                <c:pt idx="1">
                  <c:v>21</c:v>
                </c:pt>
                <c:pt idx="2">
                  <c:v>37</c:v>
                </c:pt>
                <c:pt idx="3">
                  <c:v>27</c:v>
                </c:pt>
                <c:pt idx="4">
                  <c:v>49</c:v>
                </c:pt>
                <c:pt idx="5">
                  <c:v>99</c:v>
                </c:pt>
                <c:pt idx="6">
                  <c:v>184</c:v>
                </c:pt>
                <c:pt idx="7">
                  <c:v>311</c:v>
                </c:pt>
                <c:pt idx="8">
                  <c:v>232</c:v>
                </c:pt>
                <c:pt idx="9">
                  <c:v>517</c:v>
                </c:pt>
                <c:pt idx="10">
                  <c:v>496</c:v>
                </c:pt>
                <c:pt idx="11">
                  <c:v>416</c:v>
                </c:pt>
                <c:pt idx="12">
                  <c:v>337</c:v>
                </c:pt>
                <c:pt idx="13">
                  <c:v>218</c:v>
                </c:pt>
                <c:pt idx="14">
                  <c:v>427</c:v>
                </c:pt>
                <c:pt idx="15">
                  <c:v>258</c:v>
                </c:pt>
                <c:pt idx="16">
                  <c:v>469</c:v>
                </c:pt>
                <c:pt idx="17">
                  <c:v>208</c:v>
                </c:pt>
                <c:pt idx="18">
                  <c:v>105</c:v>
                </c:pt>
                <c:pt idx="19">
                  <c:v>195</c:v>
                </c:pt>
                <c:pt idx="20">
                  <c:v>144</c:v>
                </c:pt>
                <c:pt idx="21">
                  <c:v>56</c:v>
                </c:pt>
                <c:pt idx="22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2-42DC-B88D-0E0F3E070C48}"/>
            </c:ext>
          </c:extLst>
        </c:ser>
        <c:ser>
          <c:idx val="1"/>
          <c:order val="1"/>
          <c:tx>
            <c:strRef>
              <c:f>Pivot!$K$7</c:f>
              <c:strCache>
                <c:ptCount val="1"/>
                <c:pt idx="0">
                  <c:v>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Pivot!$I$8:$I$31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0.10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0.20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0.30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0.40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Pivot!$K$8:$K$31</c:f>
              <c:numCache>
                <c:formatCode>General</c:formatCode>
                <c:ptCount val="23"/>
                <c:pt idx="0">
                  <c:v>158</c:v>
                </c:pt>
                <c:pt idx="1">
                  <c:v>366</c:v>
                </c:pt>
                <c:pt idx="2">
                  <c:v>571</c:v>
                </c:pt>
                <c:pt idx="3">
                  <c:v>330</c:v>
                </c:pt>
                <c:pt idx="4">
                  <c:v>1210</c:v>
                </c:pt>
                <c:pt idx="5">
                  <c:v>2005</c:v>
                </c:pt>
                <c:pt idx="6">
                  <c:v>4151</c:v>
                </c:pt>
                <c:pt idx="7">
                  <c:v>6692</c:v>
                </c:pt>
                <c:pt idx="8">
                  <c:v>3813</c:v>
                </c:pt>
                <c:pt idx="9">
                  <c:v>7409</c:v>
                </c:pt>
                <c:pt idx="10">
                  <c:v>6716</c:v>
                </c:pt>
                <c:pt idx="11">
                  <c:v>5549</c:v>
                </c:pt>
                <c:pt idx="12">
                  <c:v>2820</c:v>
                </c:pt>
                <c:pt idx="13">
                  <c:v>1740</c:v>
                </c:pt>
                <c:pt idx="14">
                  <c:v>3124</c:v>
                </c:pt>
                <c:pt idx="15">
                  <c:v>1708</c:v>
                </c:pt>
                <c:pt idx="16">
                  <c:v>2009</c:v>
                </c:pt>
                <c:pt idx="17">
                  <c:v>1133</c:v>
                </c:pt>
                <c:pt idx="18">
                  <c:v>416</c:v>
                </c:pt>
                <c:pt idx="19">
                  <c:v>790</c:v>
                </c:pt>
                <c:pt idx="20">
                  <c:v>375</c:v>
                </c:pt>
                <c:pt idx="21">
                  <c:v>138</c:v>
                </c:pt>
                <c:pt idx="22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12-42DC-B88D-0E0F3E070C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49524944"/>
        <c:axId val="1549523504"/>
      </c:barChart>
      <c:catAx>
        <c:axId val="154952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523504"/>
        <c:crosses val="autoZero"/>
        <c:auto val="1"/>
        <c:lblAlgn val="ctr"/>
        <c:lblOffset val="100"/>
        <c:noMultiLvlLbl val="0"/>
      </c:catAx>
      <c:valAx>
        <c:axId val="1549523504"/>
        <c:scaling>
          <c:orientation val="minMax"/>
          <c:max val="10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52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5231162965094481"/>
          <c:y val="0.10513551877443891"/>
          <c:w val="0.30132018381423248"/>
          <c:h val="7.19752664845465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[FinalDashboard.xlsx]Pivot!PivotTable2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Trend</a:t>
            </a:r>
            <a:r>
              <a:rPr lang="en-IN" baseline="0"/>
              <a:t> By Customer Type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94000"/>
                  <a:satMod val="103000"/>
                  <a:lumMod val="102000"/>
                </a:schemeClr>
              </a:gs>
              <a:gs pos="50000">
                <a:schemeClr val="accent1">
                  <a:shade val="100000"/>
                  <a:satMod val="110000"/>
                  <a:lumMod val="100000"/>
                </a:schemeClr>
              </a:gs>
              <a:gs pos="100000">
                <a:schemeClr val="accent1">
                  <a:shade val="78000"/>
                  <a:satMod val="12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94000"/>
                  <a:satMod val="103000"/>
                  <a:lumMod val="102000"/>
                </a:schemeClr>
              </a:gs>
              <a:gs pos="50000">
                <a:schemeClr val="accent1">
                  <a:shade val="100000"/>
                  <a:satMod val="110000"/>
                  <a:lumMod val="100000"/>
                </a:schemeClr>
              </a:gs>
              <a:gs pos="100000">
                <a:schemeClr val="accent1">
                  <a:shade val="78000"/>
                  <a:satMod val="120000"/>
                  <a:lumMod val="99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5556953650974862E-2"/>
          <c:y val="3.3919197600299961E-2"/>
          <c:w val="0.87835953681242906"/>
          <c:h val="0.7576477047511917"/>
        </c:manualLayout>
      </c:layout>
      <c:lineChart>
        <c:grouping val="standard"/>
        <c:varyColors val="0"/>
        <c:ser>
          <c:idx val="0"/>
          <c:order val="0"/>
          <c:tx>
            <c:strRef>
              <c:f>Pivot!$B$7</c:f>
              <c:strCache>
                <c:ptCount val="1"/>
                <c:pt idx="0">
                  <c:v> Casual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Pivot!$A$8:$A$53</c:f>
              <c:strCache>
                <c:ptCount val="45"/>
                <c:pt idx="0">
                  <c:v>01-01-2011</c:v>
                </c:pt>
                <c:pt idx="1">
                  <c:v>02-01-2011</c:v>
                </c:pt>
                <c:pt idx="2">
                  <c:v>03-01-2011</c:v>
                </c:pt>
                <c:pt idx="3">
                  <c:v>04-01-2011</c:v>
                </c:pt>
                <c:pt idx="4">
                  <c:v>05-01-2011</c:v>
                </c:pt>
                <c:pt idx="5">
                  <c:v>06-01-2011</c:v>
                </c:pt>
                <c:pt idx="6">
                  <c:v>07-01-2011</c:v>
                </c:pt>
                <c:pt idx="7">
                  <c:v>08-01-2011</c:v>
                </c:pt>
                <c:pt idx="8">
                  <c:v>09-01-2011</c:v>
                </c:pt>
                <c:pt idx="9">
                  <c:v>10-01-2011</c:v>
                </c:pt>
                <c:pt idx="10">
                  <c:v>11-01-2011</c:v>
                </c:pt>
                <c:pt idx="11">
                  <c:v>12-01-2011</c:v>
                </c:pt>
                <c:pt idx="12">
                  <c:v>13-01-2011</c:v>
                </c:pt>
                <c:pt idx="13">
                  <c:v>14-01-2011</c:v>
                </c:pt>
                <c:pt idx="14">
                  <c:v>15-01-2011</c:v>
                </c:pt>
                <c:pt idx="15">
                  <c:v>16-01-2011</c:v>
                </c:pt>
                <c:pt idx="16">
                  <c:v>17-01-2011</c:v>
                </c:pt>
                <c:pt idx="17">
                  <c:v>18-01-2011</c:v>
                </c:pt>
                <c:pt idx="18">
                  <c:v>19-01-2011</c:v>
                </c:pt>
                <c:pt idx="19">
                  <c:v>20-01-2011</c:v>
                </c:pt>
                <c:pt idx="20">
                  <c:v>21-01-2011</c:v>
                </c:pt>
                <c:pt idx="21">
                  <c:v>22-01-2011</c:v>
                </c:pt>
                <c:pt idx="22">
                  <c:v>23-01-2011</c:v>
                </c:pt>
                <c:pt idx="23">
                  <c:v>24-01-2011</c:v>
                </c:pt>
                <c:pt idx="24">
                  <c:v>25-01-2011</c:v>
                </c:pt>
                <c:pt idx="25">
                  <c:v>26-01-2011</c:v>
                </c:pt>
                <c:pt idx="26">
                  <c:v>27-01-2011</c:v>
                </c:pt>
                <c:pt idx="27">
                  <c:v>28-01-2011</c:v>
                </c:pt>
                <c:pt idx="28">
                  <c:v>29-01-2011</c:v>
                </c:pt>
                <c:pt idx="29">
                  <c:v>30-01-2011</c:v>
                </c:pt>
                <c:pt idx="30">
                  <c:v>31-01-2011</c:v>
                </c:pt>
                <c:pt idx="31">
                  <c:v>01-02-2011</c:v>
                </c:pt>
                <c:pt idx="32">
                  <c:v>02-02-2011</c:v>
                </c:pt>
                <c:pt idx="33">
                  <c:v>03-02-2011</c:v>
                </c:pt>
                <c:pt idx="34">
                  <c:v>04-02-2011</c:v>
                </c:pt>
                <c:pt idx="35">
                  <c:v>05-02-2011</c:v>
                </c:pt>
                <c:pt idx="36">
                  <c:v>06-02-2011</c:v>
                </c:pt>
                <c:pt idx="37">
                  <c:v>07-02-2011</c:v>
                </c:pt>
                <c:pt idx="38">
                  <c:v>08-02-2011</c:v>
                </c:pt>
                <c:pt idx="39">
                  <c:v>09-02-2011</c:v>
                </c:pt>
                <c:pt idx="40">
                  <c:v>10-02-2011</c:v>
                </c:pt>
                <c:pt idx="41">
                  <c:v>11-02-2011</c:v>
                </c:pt>
                <c:pt idx="42">
                  <c:v>12-02-2011</c:v>
                </c:pt>
                <c:pt idx="43">
                  <c:v>13-02-2011</c:v>
                </c:pt>
                <c:pt idx="44">
                  <c:v>14-02-2011</c:v>
                </c:pt>
              </c:strCache>
            </c:strRef>
          </c:cat>
          <c:val>
            <c:numRef>
              <c:f>Pivot!$B$8:$B$53</c:f>
              <c:numCache>
                <c:formatCode>General</c:formatCode>
                <c:ptCount val="45"/>
                <c:pt idx="0">
                  <c:v>331</c:v>
                </c:pt>
                <c:pt idx="1">
                  <c:v>131</c:v>
                </c:pt>
                <c:pt idx="2">
                  <c:v>120</c:v>
                </c:pt>
                <c:pt idx="3">
                  <c:v>108</c:v>
                </c:pt>
                <c:pt idx="4">
                  <c:v>82</c:v>
                </c:pt>
                <c:pt idx="5">
                  <c:v>88</c:v>
                </c:pt>
                <c:pt idx="6">
                  <c:v>148</c:v>
                </c:pt>
                <c:pt idx="7">
                  <c:v>68</c:v>
                </c:pt>
                <c:pt idx="8">
                  <c:v>54</c:v>
                </c:pt>
                <c:pt idx="9">
                  <c:v>41</c:v>
                </c:pt>
                <c:pt idx="10">
                  <c:v>43</c:v>
                </c:pt>
                <c:pt idx="11">
                  <c:v>25</c:v>
                </c:pt>
                <c:pt idx="12">
                  <c:v>38</c:v>
                </c:pt>
                <c:pt idx="13">
                  <c:v>54</c:v>
                </c:pt>
                <c:pt idx="14">
                  <c:v>222</c:v>
                </c:pt>
                <c:pt idx="15">
                  <c:v>251</c:v>
                </c:pt>
                <c:pt idx="16">
                  <c:v>117</c:v>
                </c:pt>
                <c:pt idx="17">
                  <c:v>9</c:v>
                </c:pt>
                <c:pt idx="18">
                  <c:v>78</c:v>
                </c:pt>
                <c:pt idx="19">
                  <c:v>83</c:v>
                </c:pt>
                <c:pt idx="20">
                  <c:v>75</c:v>
                </c:pt>
                <c:pt idx="21">
                  <c:v>93</c:v>
                </c:pt>
                <c:pt idx="22">
                  <c:v>150</c:v>
                </c:pt>
                <c:pt idx="23">
                  <c:v>86</c:v>
                </c:pt>
                <c:pt idx="24">
                  <c:v>186</c:v>
                </c:pt>
                <c:pt idx="25">
                  <c:v>34</c:v>
                </c:pt>
                <c:pt idx="26">
                  <c:v>15</c:v>
                </c:pt>
                <c:pt idx="27">
                  <c:v>38</c:v>
                </c:pt>
                <c:pt idx="28">
                  <c:v>123</c:v>
                </c:pt>
                <c:pt idx="29">
                  <c:v>140</c:v>
                </c:pt>
                <c:pt idx="30">
                  <c:v>42</c:v>
                </c:pt>
                <c:pt idx="31">
                  <c:v>47</c:v>
                </c:pt>
                <c:pt idx="32">
                  <c:v>72</c:v>
                </c:pt>
                <c:pt idx="33">
                  <c:v>61</c:v>
                </c:pt>
                <c:pt idx="34">
                  <c:v>88</c:v>
                </c:pt>
                <c:pt idx="35">
                  <c:v>100</c:v>
                </c:pt>
                <c:pt idx="36">
                  <c:v>354</c:v>
                </c:pt>
                <c:pt idx="37">
                  <c:v>120</c:v>
                </c:pt>
                <c:pt idx="38">
                  <c:v>64</c:v>
                </c:pt>
                <c:pt idx="39">
                  <c:v>53</c:v>
                </c:pt>
                <c:pt idx="40">
                  <c:v>47</c:v>
                </c:pt>
                <c:pt idx="41">
                  <c:v>149</c:v>
                </c:pt>
                <c:pt idx="42">
                  <c:v>288</c:v>
                </c:pt>
                <c:pt idx="43">
                  <c:v>397</c:v>
                </c:pt>
                <c:pt idx="4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7E-49F3-BCC7-B67635890A47}"/>
            </c:ext>
          </c:extLst>
        </c:ser>
        <c:ser>
          <c:idx val="1"/>
          <c:order val="1"/>
          <c:tx>
            <c:strRef>
              <c:f>Pivot!$C$7</c:f>
              <c:strCache>
                <c:ptCount val="1"/>
                <c:pt idx="0">
                  <c:v> Registered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Pivot!$A$8:$A$53</c:f>
              <c:strCache>
                <c:ptCount val="45"/>
                <c:pt idx="0">
                  <c:v>01-01-2011</c:v>
                </c:pt>
                <c:pt idx="1">
                  <c:v>02-01-2011</c:v>
                </c:pt>
                <c:pt idx="2">
                  <c:v>03-01-2011</c:v>
                </c:pt>
                <c:pt idx="3">
                  <c:v>04-01-2011</c:v>
                </c:pt>
                <c:pt idx="4">
                  <c:v>05-01-2011</c:v>
                </c:pt>
                <c:pt idx="5">
                  <c:v>06-01-2011</c:v>
                </c:pt>
                <c:pt idx="6">
                  <c:v>07-01-2011</c:v>
                </c:pt>
                <c:pt idx="7">
                  <c:v>08-01-2011</c:v>
                </c:pt>
                <c:pt idx="8">
                  <c:v>09-01-2011</c:v>
                </c:pt>
                <c:pt idx="9">
                  <c:v>10-01-2011</c:v>
                </c:pt>
                <c:pt idx="10">
                  <c:v>11-01-2011</c:v>
                </c:pt>
                <c:pt idx="11">
                  <c:v>12-01-2011</c:v>
                </c:pt>
                <c:pt idx="12">
                  <c:v>13-01-2011</c:v>
                </c:pt>
                <c:pt idx="13">
                  <c:v>14-01-2011</c:v>
                </c:pt>
                <c:pt idx="14">
                  <c:v>15-01-2011</c:v>
                </c:pt>
                <c:pt idx="15">
                  <c:v>16-01-2011</c:v>
                </c:pt>
                <c:pt idx="16">
                  <c:v>17-01-2011</c:v>
                </c:pt>
                <c:pt idx="17">
                  <c:v>18-01-2011</c:v>
                </c:pt>
                <c:pt idx="18">
                  <c:v>19-01-2011</c:v>
                </c:pt>
                <c:pt idx="19">
                  <c:v>20-01-2011</c:v>
                </c:pt>
                <c:pt idx="20">
                  <c:v>21-01-2011</c:v>
                </c:pt>
                <c:pt idx="21">
                  <c:v>22-01-2011</c:v>
                </c:pt>
                <c:pt idx="22">
                  <c:v>23-01-2011</c:v>
                </c:pt>
                <c:pt idx="23">
                  <c:v>24-01-2011</c:v>
                </c:pt>
                <c:pt idx="24">
                  <c:v>25-01-2011</c:v>
                </c:pt>
                <c:pt idx="25">
                  <c:v>26-01-2011</c:v>
                </c:pt>
                <c:pt idx="26">
                  <c:v>27-01-2011</c:v>
                </c:pt>
                <c:pt idx="27">
                  <c:v>28-01-2011</c:v>
                </c:pt>
                <c:pt idx="28">
                  <c:v>29-01-2011</c:v>
                </c:pt>
                <c:pt idx="29">
                  <c:v>30-01-2011</c:v>
                </c:pt>
                <c:pt idx="30">
                  <c:v>31-01-2011</c:v>
                </c:pt>
                <c:pt idx="31">
                  <c:v>01-02-2011</c:v>
                </c:pt>
                <c:pt idx="32">
                  <c:v>02-02-2011</c:v>
                </c:pt>
                <c:pt idx="33">
                  <c:v>03-02-2011</c:v>
                </c:pt>
                <c:pt idx="34">
                  <c:v>04-02-2011</c:v>
                </c:pt>
                <c:pt idx="35">
                  <c:v>05-02-2011</c:v>
                </c:pt>
                <c:pt idx="36">
                  <c:v>06-02-2011</c:v>
                </c:pt>
                <c:pt idx="37">
                  <c:v>07-02-2011</c:v>
                </c:pt>
                <c:pt idx="38">
                  <c:v>08-02-2011</c:v>
                </c:pt>
                <c:pt idx="39">
                  <c:v>09-02-2011</c:v>
                </c:pt>
                <c:pt idx="40">
                  <c:v>10-02-2011</c:v>
                </c:pt>
                <c:pt idx="41">
                  <c:v>11-02-2011</c:v>
                </c:pt>
                <c:pt idx="42">
                  <c:v>12-02-2011</c:v>
                </c:pt>
                <c:pt idx="43">
                  <c:v>13-02-2011</c:v>
                </c:pt>
                <c:pt idx="44">
                  <c:v>14-02-2011</c:v>
                </c:pt>
              </c:strCache>
            </c:strRef>
          </c:cat>
          <c:val>
            <c:numRef>
              <c:f>Pivot!$C$8:$C$53</c:f>
              <c:numCache>
                <c:formatCode>General</c:formatCode>
                <c:ptCount val="45"/>
                <c:pt idx="0">
                  <c:v>654</c:v>
                </c:pt>
                <c:pt idx="1">
                  <c:v>670</c:v>
                </c:pt>
                <c:pt idx="2">
                  <c:v>1229</c:v>
                </c:pt>
                <c:pt idx="3">
                  <c:v>1454</c:v>
                </c:pt>
                <c:pt idx="4">
                  <c:v>1518</c:v>
                </c:pt>
                <c:pt idx="5">
                  <c:v>1518</c:v>
                </c:pt>
                <c:pt idx="6">
                  <c:v>1362</c:v>
                </c:pt>
                <c:pt idx="7">
                  <c:v>891</c:v>
                </c:pt>
                <c:pt idx="8">
                  <c:v>768</c:v>
                </c:pt>
                <c:pt idx="9">
                  <c:v>1280</c:v>
                </c:pt>
                <c:pt idx="10">
                  <c:v>1220</c:v>
                </c:pt>
                <c:pt idx="11">
                  <c:v>1137</c:v>
                </c:pt>
                <c:pt idx="12">
                  <c:v>1368</c:v>
                </c:pt>
                <c:pt idx="13">
                  <c:v>1367</c:v>
                </c:pt>
                <c:pt idx="14">
                  <c:v>1026</c:v>
                </c:pt>
                <c:pt idx="15">
                  <c:v>953</c:v>
                </c:pt>
                <c:pt idx="16">
                  <c:v>883</c:v>
                </c:pt>
                <c:pt idx="17">
                  <c:v>674</c:v>
                </c:pt>
                <c:pt idx="18">
                  <c:v>1572</c:v>
                </c:pt>
                <c:pt idx="19">
                  <c:v>1844</c:v>
                </c:pt>
                <c:pt idx="20">
                  <c:v>1468</c:v>
                </c:pt>
                <c:pt idx="21">
                  <c:v>888</c:v>
                </c:pt>
                <c:pt idx="22">
                  <c:v>836</c:v>
                </c:pt>
                <c:pt idx="23">
                  <c:v>1330</c:v>
                </c:pt>
                <c:pt idx="24">
                  <c:v>1799</c:v>
                </c:pt>
                <c:pt idx="25">
                  <c:v>472</c:v>
                </c:pt>
                <c:pt idx="26">
                  <c:v>416</c:v>
                </c:pt>
                <c:pt idx="27">
                  <c:v>1129</c:v>
                </c:pt>
                <c:pt idx="28">
                  <c:v>975</c:v>
                </c:pt>
                <c:pt idx="29">
                  <c:v>956</c:v>
                </c:pt>
                <c:pt idx="30">
                  <c:v>1459</c:v>
                </c:pt>
                <c:pt idx="31">
                  <c:v>1313</c:v>
                </c:pt>
                <c:pt idx="32">
                  <c:v>1454</c:v>
                </c:pt>
                <c:pt idx="33">
                  <c:v>1489</c:v>
                </c:pt>
                <c:pt idx="34">
                  <c:v>1620</c:v>
                </c:pt>
                <c:pt idx="35">
                  <c:v>905</c:v>
                </c:pt>
                <c:pt idx="36">
                  <c:v>1269</c:v>
                </c:pt>
                <c:pt idx="37">
                  <c:v>1592</c:v>
                </c:pt>
                <c:pt idx="38">
                  <c:v>1466</c:v>
                </c:pt>
                <c:pt idx="39">
                  <c:v>1552</c:v>
                </c:pt>
                <c:pt idx="40">
                  <c:v>1491</c:v>
                </c:pt>
                <c:pt idx="41">
                  <c:v>1597</c:v>
                </c:pt>
                <c:pt idx="42">
                  <c:v>1184</c:v>
                </c:pt>
                <c:pt idx="43">
                  <c:v>1192</c:v>
                </c:pt>
                <c:pt idx="44">
                  <c:v>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7E-49F3-BCC7-B67635890A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9536944"/>
        <c:axId val="1549532144"/>
      </c:lineChart>
      <c:catAx>
        <c:axId val="154953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532144"/>
        <c:crosses val="autoZero"/>
        <c:auto val="1"/>
        <c:lblAlgn val="ctr"/>
        <c:lblOffset val="100"/>
        <c:noMultiLvlLbl val="0"/>
      </c:catAx>
      <c:valAx>
        <c:axId val="1549532144"/>
        <c:scaling>
          <c:orientation val="minMax"/>
          <c:max val="3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53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6433245988403012"/>
          <c:y val="0.11203432160265681"/>
          <c:w val="0.25126336658494297"/>
          <c:h val="7.1849724141625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Share By</a:t>
            </a:r>
            <a:r>
              <a:rPr lang="en-IN" baseline="0"/>
              <a:t> Customer Type</a:t>
            </a:r>
            <a:endParaRPr lang="en-IN"/>
          </a:p>
        </c:rich>
      </c:tx>
      <c:layout>
        <c:manualLayout>
          <c:xMode val="edge"/>
          <c:yMode val="edge"/>
          <c:x val="0.20475163888445302"/>
          <c:y val="1.77777777777777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361111111111111E-2"/>
          <c:y val="0.1750721784776903"/>
          <c:w val="0.97638888888888886"/>
          <c:h val="0.69823745990084585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AC3D-4827-B8CB-0D226741CF8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AC3D-4827-B8CB-0D226741CF83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lt1">
                          <a:lumMod val="8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AC3D-4827-B8CB-0D226741CF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Pivot!$E$34:$F$34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Pivot!$E$35:$F$35</c:f>
              <c:numCache>
                <c:formatCode>General</c:formatCode>
                <c:ptCount val="2"/>
                <c:pt idx="0">
                  <c:v>4921</c:v>
                </c:pt>
                <c:pt idx="1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3D-4827-B8CB-0D226741CF8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[FinalDashboard.xlsx]Pivot!PivotTable3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Sales By </a:t>
            </a:r>
            <a:r>
              <a:rPr lang="en-IN">
                <a:latin typeface="Arial Black" panose="020B0A04020102020204" pitchFamily="34" charset="0"/>
              </a:rPr>
              <a:t>Day</a:t>
            </a:r>
          </a:p>
        </c:rich>
      </c:tx>
      <c:layout>
        <c:manualLayout>
          <c:xMode val="edge"/>
          <c:yMode val="edge"/>
          <c:x val="0.37415326712607955"/>
          <c:y val="2.76243093922651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2562159773569672E-2"/>
          <c:y val="0.16620626151012891"/>
          <c:w val="0.87461153712825079"/>
          <c:h val="0.752569930830469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Pivot!$F$7</c:f>
              <c:strCache>
                <c:ptCount val="1"/>
                <c:pt idx="0">
                  <c:v> Casual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Pivot!$E$8:$E$15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Pivot!$F$8:$F$15</c:f>
              <c:numCache>
                <c:formatCode>General</c:formatCode>
                <c:ptCount val="7"/>
                <c:pt idx="0">
                  <c:v>534</c:v>
                </c:pt>
                <c:pt idx="1">
                  <c:v>457</c:v>
                </c:pt>
                <c:pt idx="2">
                  <c:v>344</c:v>
                </c:pt>
                <c:pt idx="3">
                  <c:v>332</c:v>
                </c:pt>
                <c:pt idx="4">
                  <c:v>552</c:v>
                </c:pt>
                <c:pt idx="5">
                  <c:v>1225</c:v>
                </c:pt>
                <c:pt idx="6">
                  <c:v>1477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BD-43F1-8DAC-FC663131C6E4}"/>
            </c:ext>
          </c:extLst>
        </c:ser>
        <c:ser>
          <c:idx val="1"/>
          <c:order val="1"/>
          <c:tx>
            <c:strRef>
              <c:f>Pivot!$G$7</c:f>
              <c:strCache>
                <c:ptCount val="1"/>
                <c:pt idx="0">
                  <c:v>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Pivot!$E$8:$E$15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Pivot!$G$8:$G$15</c:f>
              <c:numCache>
                <c:formatCode>General</c:formatCode>
                <c:ptCount val="7"/>
                <c:pt idx="0">
                  <c:v>7916</c:v>
                </c:pt>
                <c:pt idx="1">
                  <c:v>7926</c:v>
                </c:pt>
                <c:pt idx="2">
                  <c:v>7705</c:v>
                </c:pt>
                <c:pt idx="3">
                  <c:v>8126</c:v>
                </c:pt>
                <c:pt idx="4">
                  <c:v>8543</c:v>
                </c:pt>
                <c:pt idx="5">
                  <c:v>6523</c:v>
                </c:pt>
                <c:pt idx="6">
                  <c:v>6644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BD-43F1-8DAC-FC663131C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11828352"/>
        <c:axId val="211829312"/>
      </c:barChart>
      <c:catAx>
        <c:axId val="21182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29312"/>
        <c:crosses val="autoZero"/>
        <c:auto val="1"/>
        <c:lblAlgn val="ctr"/>
        <c:lblOffset val="100"/>
        <c:noMultiLvlLbl val="0"/>
      </c:catAx>
      <c:valAx>
        <c:axId val="211829312"/>
        <c:scaling>
          <c:orientation val="minMax"/>
          <c:max val="10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28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3097379518416509"/>
          <c:y val="0.14471911660213743"/>
          <c:w val="0.36181769006015035"/>
          <c:h val="5.01798117776714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[FinalDashboard.xlsx]Pivot!PivotTable16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Holiday</a:t>
            </a:r>
            <a:r>
              <a:rPr lang="en-IN" baseline="0"/>
              <a:t> VS Working Day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9123341430071931E-2"/>
          <c:y val="5.1539488582177079E-2"/>
          <c:w val="0.89822165451917579"/>
          <c:h val="0.8314190182557517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Pivot!$F$20</c:f>
              <c:strCache>
                <c:ptCount val="1"/>
                <c:pt idx="0">
                  <c:v> Casual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Pivot!$E$21:$E$23</c:f>
              <c:strCache>
                <c:ptCount val="2"/>
                <c:pt idx="0">
                  <c:v>Holiday</c:v>
                </c:pt>
                <c:pt idx="1">
                  <c:v>Working days</c:v>
                </c:pt>
              </c:strCache>
            </c:strRef>
          </c:cat>
          <c:val>
            <c:numRef>
              <c:f>Pivot!$F$21:$F$23</c:f>
              <c:numCache>
                <c:formatCode>General</c:formatCode>
                <c:ptCount val="2"/>
                <c:pt idx="0">
                  <c:v>1477</c:v>
                </c:pt>
                <c:pt idx="1">
                  <c:v>3444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04-4191-8E99-3862C2CA191F}"/>
            </c:ext>
          </c:extLst>
        </c:ser>
        <c:ser>
          <c:idx val="1"/>
          <c:order val="1"/>
          <c:tx>
            <c:strRef>
              <c:f>Pivot!$G$20</c:f>
              <c:strCache>
                <c:ptCount val="1"/>
                <c:pt idx="0">
                  <c:v> Registered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Pivot!$E$21:$E$23</c:f>
              <c:strCache>
                <c:ptCount val="2"/>
                <c:pt idx="0">
                  <c:v>Holiday</c:v>
                </c:pt>
                <c:pt idx="1">
                  <c:v>Working days</c:v>
                </c:pt>
              </c:strCache>
            </c:strRef>
          </c:cat>
          <c:val>
            <c:numRef>
              <c:f>Pivot!$G$21:$G$23</c:f>
              <c:numCache>
                <c:formatCode>General</c:formatCode>
                <c:ptCount val="2"/>
                <c:pt idx="0">
                  <c:v>6644</c:v>
                </c:pt>
                <c:pt idx="1">
                  <c:v>46739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04-4191-8E99-3862C2CA1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shape val="box"/>
        <c:axId val="630011168"/>
        <c:axId val="630011648"/>
        <c:axId val="0"/>
      </c:bar3DChart>
      <c:catAx>
        <c:axId val="630011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011648"/>
        <c:crosses val="autoZero"/>
        <c:auto val="1"/>
        <c:lblAlgn val="ctr"/>
        <c:lblOffset val="100"/>
        <c:noMultiLvlLbl val="0"/>
      </c:catAx>
      <c:valAx>
        <c:axId val="630011648"/>
        <c:scaling>
          <c:orientation val="minMax"/>
          <c:max val="60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011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9733200816334265"/>
          <c:y val="0.14414528749405561"/>
          <c:w val="0.40078730968032394"/>
          <c:h val="8.38643769901455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59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3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2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79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31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57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3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9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85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5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77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4711618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3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9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4711617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91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600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222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1" y="5300151"/>
            <a:ext cx="9613863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4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3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5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5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5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13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79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15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6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2" y="5936190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75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6278E-ED5A-4712-A53E-08F4EDD75703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9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94DFA-66F6-4796-8106-31F69FB07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147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1464-A809-EB7D-A84E-71E8AAAAB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Bike Sharing Analysis </a:t>
            </a:r>
          </a:p>
        </p:txBody>
      </p:sp>
    </p:spTree>
    <p:extLst>
      <p:ext uri="{BB962C8B-B14F-4D97-AF65-F5344CB8AC3E}">
        <p14:creationId xmlns:p14="http://schemas.microsoft.com/office/powerpoint/2010/main" val="186441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8F93-C09F-4630-2866-7499A498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28C6B-943E-F342-C2FE-E26BCFA79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Sales By Temperature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Trend By Customer Type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Share By Customer Type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Sales By Day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Holiday v/s Working Day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Overall analysis</a:t>
            </a:r>
          </a:p>
        </p:txBody>
      </p:sp>
    </p:spTree>
    <p:extLst>
      <p:ext uri="{BB962C8B-B14F-4D97-AF65-F5344CB8AC3E}">
        <p14:creationId xmlns:p14="http://schemas.microsoft.com/office/powerpoint/2010/main" val="319139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F9E95-BF5D-0A9F-726D-A0BF9984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687" y="753228"/>
            <a:ext cx="9613861" cy="1080938"/>
          </a:xfrm>
        </p:spPr>
        <p:txBody>
          <a:bodyPr/>
          <a:lstStyle/>
          <a:p>
            <a:r>
              <a:rPr lang="en-IN" dirty="0"/>
              <a:t>Sales By Temperature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FB3DE77-069D-4E68-9F49-024CA9F5B40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6039427"/>
              </p:ext>
            </p:extLst>
          </p:nvPr>
        </p:nvGraphicFramePr>
        <p:xfrm>
          <a:off x="681038" y="2336801"/>
          <a:ext cx="5414962" cy="3545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ED316-06CC-E2CA-B3F2-DAF870A86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654" y="2878843"/>
            <a:ext cx="5262413" cy="24614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Registered sales peak around a normalized temperature of 0.20, reaching nearly 9000 units, indicating that moderate temperatures drive the highest engagement among registered users.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Casual sales remain consistently lower across all temperature ranges, peaking modestly near 0.20 as well, suggesting casual users are less influenced by temperature compared to registered ones.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Temperature impact shows a bell-shaped distribution — both categories rise with temperature up to a point and then decline, implying an optimal comfort range for activity or product use.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Beyond 0.30, both sales types drop sharply, indicating that higher temperatures may discourage participation or purchases</a:t>
            </a:r>
            <a:r>
              <a:rPr lang="en-US" sz="1200" dirty="0"/>
              <a:t>.</a:t>
            </a:r>
            <a:endParaRPr lang="en-IN" sz="1200" dirty="0"/>
          </a:p>
          <a:p>
            <a:pPr marL="0" indent="0">
              <a:buNone/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45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4188-C0A8-3936-F8D8-19514F21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Trend By Customer Type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04916-9074-D119-9E79-2765B10EA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9282" y="2502816"/>
            <a:ext cx="3337923" cy="3120272"/>
          </a:xfrm>
        </p:spPr>
        <p:txBody>
          <a:bodyPr>
            <a:norm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Registered customers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consistently remain higher than casual customers throughout both months, showing they are the main source of activity.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January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registered users show steady growth with noticeable peaks, while casual users stay relatively low and stable.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February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registered users continue to dominate but with sharper fluctuations, while casual users rise slightly on certain days, reflecting weekend or event-driven engagement.</a:t>
            </a: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Across both months, registered users drive the majority of activity, while casual users contribute modestly with occasional spikes</a:t>
            </a:r>
            <a:r>
              <a:rPr lang="en-US" sz="1200" b="1" dirty="0"/>
              <a:t>.</a:t>
            </a:r>
            <a:endParaRPr lang="en-US" sz="1200" dirty="0"/>
          </a:p>
          <a:p>
            <a:pPr marL="0" indent="0">
              <a:buNone/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815E53A-867F-490D-AFE5-587AAF9AC4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555505"/>
              </p:ext>
            </p:extLst>
          </p:nvPr>
        </p:nvGraphicFramePr>
        <p:xfrm>
          <a:off x="94267" y="2336873"/>
          <a:ext cx="8204383" cy="3286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569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8D14-8E37-482C-D9EC-73F4C796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 By Customer Type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BAA7E3C-5CC3-4EA6-940A-001E5D6DEF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21629965"/>
              </p:ext>
            </p:extLst>
          </p:nvPr>
        </p:nvGraphicFramePr>
        <p:xfrm>
          <a:off x="681038" y="2336800"/>
          <a:ext cx="5342690" cy="366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4AB9E-6AFB-AC26-3D8A-0E58B414B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4828" y="3006176"/>
            <a:ext cx="4700059" cy="18580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 of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58,304 total customers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most are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registered users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— about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53,383 (≈92%)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Only a small portion are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casual users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— about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4,921 (≈8%)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means the business depends mainly on registered customers, while casual customers are a much smaller group.</a:t>
            </a: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Almost all sales come from registered users, and casual users are just a tiny slice of the customer base.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16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3BFE-B74F-869F-126D-52F15793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By Day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4BF433-D76F-460F-86BB-F347D0C0004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26889816"/>
              </p:ext>
            </p:extLst>
          </p:nvPr>
        </p:nvGraphicFramePr>
        <p:xfrm>
          <a:off x="680322" y="2345179"/>
          <a:ext cx="6275943" cy="3599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8A07D-FAD3-7976-549D-CA625992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25255" y="3054224"/>
            <a:ext cx="4700059" cy="2181225"/>
          </a:xfrm>
        </p:spPr>
        <p:txBody>
          <a:bodyPr>
            <a:norm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Registered users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consistently dominate sales across all days, with peaks on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Thursday and Friday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Casual users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stay lower during weekdays but rise on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Saturday and Sunday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showing stronger weekend activity.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Overall, the business relies heavily on registered customers during weekdays, while casual customers contribute more noticeably on weekends.</a:t>
            </a: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Weekdays are driven by registered users, weekends see more casual engagement.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54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F89A-DCFF-09FB-051E-4CB2C136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Holiday v/s Working Day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1291B7-B33C-4505-911B-53FFCF5978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01184247"/>
              </p:ext>
            </p:extLst>
          </p:nvPr>
        </p:nvGraphicFramePr>
        <p:xfrm>
          <a:off x="358219" y="2243580"/>
          <a:ext cx="6598762" cy="3648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B3DF-FDD4-8688-CDD0-D42A7C962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8675" y="2704518"/>
            <a:ext cx="4700059" cy="2565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Registered customers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show a huge difference: their counts are very low on holidays but rise sharply on working days, reaching close to 60,000.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Casual customers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remain low in both cases, with only a slight increase on working days compared to holidays.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Overall, the data highlights that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working days are dominated by registered users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while holidays see much lower activity across both groups.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Business activity is driven mainly by registered users on working days, with holidays showing minimal engagement from both customer types.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78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05D2-4E08-20D6-C32B-157CFE15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F8906-E5D9-4541-D573-19BB99AB9E2B}"/>
              </a:ext>
            </a:extLst>
          </p:cNvPr>
          <p:cNvSpPr txBox="1"/>
          <p:nvPr/>
        </p:nvSpPr>
        <p:spPr>
          <a:xfrm>
            <a:off x="1527142" y="2278639"/>
            <a:ext cx="8239027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January and February trends confirm that registered users dominate daily, weekly, and temperature-based activity.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Casual users, though fewer, show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weekend and holiday preference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representing potential for growth if converted into registered users.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business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heavily reliant on registered customers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but casual users are an untapped segment that could be nurtured with targeted promotions during weekends, holidays, and moderate weather conditions.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Registered users drive consistent weekday activity, while casual users bring weekend spikes. Together, they show that routine and weather comfort shape bike usage in Jan–Feb.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5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604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Trebuchet MS</vt:lpstr>
      <vt:lpstr>Wingdings</vt:lpstr>
      <vt:lpstr>Berlin</vt:lpstr>
      <vt:lpstr>Bike Sharing Analysis </vt:lpstr>
      <vt:lpstr>Index</vt:lpstr>
      <vt:lpstr>Sales By Temperature </vt:lpstr>
      <vt:lpstr>Trend By Customer Type </vt:lpstr>
      <vt:lpstr>Share By Customer Type </vt:lpstr>
      <vt:lpstr>Sales By Day </vt:lpstr>
      <vt:lpstr>Holiday v/s Working Day </vt:lpstr>
      <vt:lpstr>Overall Insight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Bhagabati Sharma</dc:creator>
  <cp:lastModifiedBy>Bhagabati Sharma</cp:lastModifiedBy>
  <cp:revision>1</cp:revision>
  <dcterms:created xsi:type="dcterms:W3CDTF">2026-05-18T14:13:27Z</dcterms:created>
  <dcterms:modified xsi:type="dcterms:W3CDTF">2026-05-18T15:15:52Z</dcterms:modified>
</cp:coreProperties>
</file>